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1" r:id="rId5"/>
    <p:sldId id="262" r:id="rId6"/>
    <p:sldId id="266" r:id="rId7"/>
    <p:sldId id="263" r:id="rId8"/>
    <p:sldId id="264" r:id="rId9"/>
    <p:sldId id="265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8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6400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 (Body)"/>
              </a:rPr>
              <a:t>Wikipedia Data Project: Chemical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75304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DCDCDC"/>
                </a:solidFill>
                <a:latin typeface="Calibri (Body)"/>
              </a:rPr>
              <a:t>Student: Ayman Berri  |  Course: Web Scraping &amp;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15384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rgbClr val="C8C8C8"/>
                </a:solidFill>
                <a:latin typeface="Calibri (Body)"/>
              </a:rPr>
              <a:t>Objective: Scrape, clean, and visualize Wikipedia’s List of Chemical Elements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>
                <a:solidFill>
                  <a:srgbClr val="0078D7"/>
                </a:solidFill>
                <a:latin typeface="Calibri (Body)"/>
              </a:rPr>
              <a:t>Project Overview</a:t>
            </a:r>
            <a:endParaRPr lang="en-US" sz="3200" b="1" dirty="0">
              <a:solidFill>
                <a:srgbClr val="0078D7"/>
              </a:solidFill>
              <a:latin typeface="Calibri (Body)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Scraped live data from Wikipedia’s List of Chemical Element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Cleaned messy numeric and reference formats using regex &amp; Panda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Analyzed 15 KPIs grouped into 5 scientific categories: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Structure of the Periodic Table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Atomic &amp; Physical Properties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Thermal &amp; Energy Behavior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Natural Abundance &amp; Availability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Chemical Reactivity &amp; Bonding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rgbClr val="282828"/>
              </a:solidFill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Visualized patterns across 118 elements using Matplotlib &amp; </a:t>
            </a:r>
            <a:r>
              <a:rPr lang="en-US" sz="2000" b="0" dirty="0" err="1">
                <a:solidFill>
                  <a:srgbClr val="282828"/>
                </a:solidFill>
                <a:latin typeface="Calibri (Body)"/>
              </a:rPr>
              <a:t>Plotly</a:t>
            </a:r>
            <a:endParaRPr lang="en-US" sz="2000" b="0" dirty="0">
              <a:solidFill>
                <a:srgbClr val="282828"/>
              </a:solidFill>
              <a:latin typeface="Calibri (Body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6FD000-4941-3ED9-D2B1-123ECE2FA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084"/>
            <a:ext cx="9144000" cy="53458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712235-39FE-DA08-EC7E-21C8C9975C7B}"/>
              </a:ext>
            </a:extLst>
          </p:cNvPr>
          <p:cNvSpPr txBox="1"/>
          <p:nvPr/>
        </p:nvSpPr>
        <p:spPr>
          <a:xfrm>
            <a:off x="457200" y="18288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0078D7"/>
                </a:solidFill>
                <a:latin typeface="Calibri (Body)"/>
              </a:rPr>
              <a:t>Periodic Table of Elements</a:t>
            </a:r>
          </a:p>
        </p:txBody>
      </p:sp>
    </p:spTree>
    <p:extLst>
      <p:ext uri="{BB962C8B-B14F-4D97-AF65-F5344CB8AC3E}">
        <p14:creationId xmlns:p14="http://schemas.microsoft.com/office/powerpoint/2010/main" val="396243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0078D7"/>
                </a:solidFill>
                <a:latin typeface="Calibri (Body)"/>
              </a:rPr>
              <a:t>KPI Group 1: Periodic Table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9278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Count of elements in each block and group shows how elements are distributed across the periodic table.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The d-block (transition metals) has the most elements; s- and p-blocks are smaller but contain highly reactive metals and nonmetals.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rgbClr val="282828"/>
              </a:solidFill>
              <a:latin typeface="Calibri (Body)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Real-world relevance: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Helps chemists predict chemical behavior.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Industrial chemists can identify which groups are likely sources for metals or semiconductors.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7EC4E5-D9DD-9E87-9B73-D7083434C243}"/>
              </a:ext>
            </a:extLst>
          </p:cNvPr>
          <p:cNvGrpSpPr/>
          <p:nvPr/>
        </p:nvGrpSpPr>
        <p:grpSpPr>
          <a:xfrm>
            <a:off x="388687" y="4140650"/>
            <a:ext cx="8366626" cy="2534470"/>
            <a:chOff x="237811" y="4140650"/>
            <a:chExt cx="8366626" cy="25344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D00A78E-86F1-CB3F-35AD-2B59DF5B2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61817" y="4238764"/>
              <a:ext cx="2642620" cy="230876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F3ABDDA-4CF7-5B98-6A06-19B1D9717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811" y="4407408"/>
              <a:ext cx="2642620" cy="197147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54171FE-33F4-9225-BC50-0FBD0E8CC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99814" y="4140650"/>
              <a:ext cx="2642620" cy="25344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78D7"/>
                </a:solidFill>
                <a:latin typeface="Calibri (Body)"/>
              </a:rPr>
              <a:t>KPI Group 2: Atomic &amp; Physical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71753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Atomic weight increases across periods, showing clear periodic trends.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Osmium and Iridium are extreme density outliers.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Uranium, Thorium, and Neptunium stay liquid across thousands of degrees, great for extreme heat applications.</a:t>
            </a:r>
          </a:p>
          <a:p>
            <a:pPr algn="l"/>
            <a:endParaRPr lang="en-US" sz="2000" dirty="0">
              <a:solidFill>
                <a:srgbClr val="282828"/>
              </a:solidFill>
              <a:latin typeface="Calibri (Body)"/>
            </a:endParaRPr>
          </a:p>
          <a:p>
            <a:pPr algn="l"/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Real-World Use: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Key for materials science and engineering design.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Helps choose elements for reactors, alloys, and high-temperature processes.</a:t>
            </a:r>
            <a:endParaRPr sz="2000" b="0" dirty="0">
              <a:solidFill>
                <a:srgbClr val="282828"/>
              </a:solidFill>
              <a:latin typeface="Calibri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40F8D6-0550-ECCF-5B8E-95F15FCB5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93059"/>
            <a:ext cx="3191459" cy="2515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347274-6553-DB5F-4FC1-6BAAF9B3D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002950"/>
            <a:ext cx="3645598" cy="25052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84806A-9BAF-9FEB-6A76-1C50F8CA6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5030"/>
            <a:ext cx="9144000" cy="1994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5ED942-7192-3DD6-0FF7-BBE4747C6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29000"/>
            <a:ext cx="3794379" cy="2653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AAC608-46B3-1E9D-368E-DD638ADE4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010" y="3534876"/>
            <a:ext cx="3724302" cy="244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5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F95F084E-0C33-2A08-7EA5-53D4F0245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0230"/>
            <a:ext cx="9144000" cy="19887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8D7"/>
                </a:solidFill>
                <a:latin typeface="Calibri (Body)"/>
              </a:rPr>
              <a:t>KPI Group 3: Thermal &amp; Energy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041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82828"/>
                </a:solidFill>
                <a:latin typeface="Calibri (Body)"/>
              </a:rPr>
              <a:t>Elements differ in how they handle heat, some melt or boil easily, others stay stable at extreme temperatures.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82828"/>
                </a:solidFill>
                <a:latin typeface="Calibri (Body)"/>
              </a:rPr>
              <a:t>Specific Heat Capacity shows how well an element stores heat, </a:t>
            </a:r>
            <a:r>
              <a:rPr lang="en-US" b="1" dirty="0">
                <a:solidFill>
                  <a:srgbClr val="282828"/>
                </a:solidFill>
                <a:latin typeface="Calibri (Body)"/>
              </a:rPr>
              <a:t>Hydrogen</a:t>
            </a:r>
            <a:r>
              <a:rPr lang="en-US" b="0" dirty="0">
                <a:solidFill>
                  <a:srgbClr val="282828"/>
                </a:solidFill>
                <a:latin typeface="Calibri (Body)"/>
              </a:rPr>
              <a:t> and </a:t>
            </a:r>
            <a:r>
              <a:rPr lang="en-US" b="1" dirty="0">
                <a:solidFill>
                  <a:srgbClr val="282828"/>
                </a:solidFill>
                <a:latin typeface="Calibri (Body)"/>
              </a:rPr>
              <a:t>Helium</a:t>
            </a:r>
            <a:r>
              <a:rPr lang="en-US" b="0" dirty="0">
                <a:solidFill>
                  <a:srgbClr val="282828"/>
                </a:solidFill>
                <a:latin typeface="Calibri (Body)"/>
              </a:rPr>
              <a:t> top the list, acting like “</a:t>
            </a:r>
            <a:r>
              <a:rPr lang="en-US" b="0" i="1" dirty="0">
                <a:solidFill>
                  <a:srgbClr val="282828"/>
                </a:solidFill>
                <a:latin typeface="Calibri (Body)"/>
              </a:rPr>
              <a:t>heat sponges</a:t>
            </a:r>
            <a:r>
              <a:rPr lang="en-US" b="0" dirty="0">
                <a:solidFill>
                  <a:srgbClr val="282828"/>
                </a:solidFill>
                <a:latin typeface="Calibri (Body)"/>
              </a:rPr>
              <a:t>.”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82828"/>
                </a:solidFill>
                <a:latin typeface="Calibri (Body)"/>
              </a:rPr>
              <a:t>The Melting vs Boiling Point chart reveals elements like </a:t>
            </a:r>
            <a:r>
              <a:rPr lang="en-US" b="1" dirty="0">
                <a:solidFill>
                  <a:srgbClr val="282828"/>
                </a:solidFill>
                <a:latin typeface="Calibri (Body)"/>
              </a:rPr>
              <a:t>Tungsten</a:t>
            </a:r>
            <a:r>
              <a:rPr lang="en-US" b="0" dirty="0">
                <a:solidFill>
                  <a:srgbClr val="282828"/>
                </a:solidFill>
                <a:latin typeface="Calibri (Body)"/>
              </a:rPr>
              <a:t> that remain solid under intense heat.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FDD2B-5FBF-C141-0D0D-CDE147600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296" y="758472"/>
            <a:ext cx="3123371" cy="21738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537957-F753-9735-B3C2-491565D6EAC1}"/>
              </a:ext>
            </a:extLst>
          </p:cNvPr>
          <p:cNvSpPr txBox="1"/>
          <p:nvPr/>
        </p:nvSpPr>
        <p:spPr>
          <a:xfrm>
            <a:off x="457200" y="3441810"/>
            <a:ext cx="7137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282828"/>
                </a:solidFill>
                <a:latin typeface="Calibri (Body)"/>
              </a:rPr>
              <a:t>Real-World Relevance: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82828"/>
                </a:solidFill>
                <a:latin typeface="Calibri (Body)"/>
              </a:rPr>
              <a:t>Useful for high-temperature materials, energy storage, and cooling system design.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82828"/>
                </a:solidFill>
                <a:latin typeface="Calibri (Body)"/>
              </a:rPr>
              <a:t>Guides industries from aerospace to everyday cookware in selecting heat-resistant elements.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8D7"/>
                </a:solidFill>
                <a:latin typeface="Calibri (Body)"/>
              </a:rPr>
              <a:t>KPI Group 4: Natural Abundance &amp;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78408"/>
            <a:ext cx="47823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The Earth’s crust is mostly Oxygen, Silicon, Aluminum, and Iron, making up over 90% of its mass.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In contrast, rare elements like Gold, Platinum, and Rhodium occur only in trace amounts, explaining their high value.</a:t>
            </a:r>
          </a:p>
          <a:p>
            <a:pPr algn="l"/>
            <a:endParaRPr lang="en-US" sz="2000" dirty="0">
              <a:solidFill>
                <a:srgbClr val="282828"/>
              </a:solidFill>
              <a:latin typeface="Calibri (Body)"/>
            </a:endParaRPr>
          </a:p>
          <a:p>
            <a:pPr algn="l"/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Real-World Relevance: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Helps identify which elements are economically viable to mine.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Guides resource management and sustainable extraction.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Explains why rare elements are crucial for electronics, clean energy, and high-tech devices despite their scarcity.</a:t>
            </a:r>
            <a:endParaRPr sz="2000" b="0" dirty="0">
              <a:solidFill>
                <a:srgbClr val="282828"/>
              </a:solidFill>
              <a:latin typeface="Calibri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599F4-E6E1-56A4-10A5-59C7A244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747" y="640080"/>
            <a:ext cx="3506665" cy="3344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C6466A-AF15-98CD-1847-57AA28501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189" y="3984117"/>
            <a:ext cx="3662223" cy="25694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8D7"/>
                </a:solidFill>
                <a:latin typeface="Calibri (Body)"/>
              </a:rPr>
              <a:t>KPI Group 5: Reactivity &amp; Bonding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7071"/>
            <a:ext cx="59618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The lightest elements: Hydrogen, Helium, Carbon, Nitrogen, and Oxygen are the foundation of life and the universe.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They make up water (H₂O), the air we breathe (O₂ and N₂), and organic molecules like proteins and DNA.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EC466-C0DD-82AB-3E66-446C5AB29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074" y="4416701"/>
            <a:ext cx="4902527" cy="2441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B693F2-27EA-B6C1-0840-D66F20D5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16700"/>
            <a:ext cx="3434655" cy="2441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5EEFAF-97AA-6FC5-F140-19BD868ED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335" y="182880"/>
            <a:ext cx="3236266" cy="2300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DF03DB-CD45-373B-62DA-D79358F20357}"/>
              </a:ext>
            </a:extLst>
          </p:cNvPr>
          <p:cNvSpPr txBox="1"/>
          <p:nvPr/>
        </p:nvSpPr>
        <p:spPr>
          <a:xfrm>
            <a:off x="0" y="2653055"/>
            <a:ext cx="93451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282828"/>
                </a:solidFill>
                <a:latin typeface="Calibri (Body)"/>
              </a:rPr>
              <a:t>Real-World Relevance: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82828"/>
                </a:solidFill>
                <a:latin typeface="Calibri (Body)"/>
              </a:rPr>
              <a:t>Hydrogen powers rocket fuel and hydrogen fuel cells for clean energy.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82828"/>
                </a:solidFill>
                <a:latin typeface="Calibri (Body)"/>
              </a:rPr>
              <a:t>Helium is used in MRI machines and cooling superconductors.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82828"/>
                </a:solidFill>
                <a:latin typeface="Calibri (Body)"/>
              </a:rPr>
              <a:t>Carbon forms the basis of life and modern materials like graphite and carbon fiber.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82828"/>
                </a:solidFill>
                <a:latin typeface="Calibri (Body)"/>
              </a:rPr>
              <a:t>Together, they show how light elements shape life, technology, and the cosmos.</a:t>
            </a:r>
            <a:endParaRPr lang="en-US" sz="1800" b="0" dirty="0">
              <a:solidFill>
                <a:srgbClr val="282828"/>
              </a:solidFill>
              <a:latin typeface="Calibri (Body)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>
                <a:solidFill>
                  <a:srgbClr val="0078D7"/>
                </a:solidFill>
                <a:latin typeface="Calibri (Body)"/>
              </a:rPr>
              <a:t>Methodology</a:t>
            </a:r>
            <a:endParaRPr lang="en-US" sz="3200" b="1" dirty="0">
              <a:solidFill>
                <a:srgbClr val="0078D7"/>
              </a:solidFill>
              <a:latin typeface="Calibri (Body)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1️⃣ Scraped live HTML tables using Pandas `</a:t>
            </a:r>
            <a:r>
              <a:rPr lang="en-US" sz="2000" b="0" dirty="0" err="1">
                <a:solidFill>
                  <a:srgbClr val="282828"/>
                </a:solidFill>
                <a:latin typeface="Calibri (Body)"/>
              </a:rPr>
              <a:t>read_html</a:t>
            </a: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()`</a:t>
            </a:r>
          </a:p>
          <a:p>
            <a:pPr algn="l"/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2️⃣ Cleaned messy numeric fields (e.g., atomic weights, densities, melting points)</a:t>
            </a:r>
          </a:p>
          <a:p>
            <a:pPr algn="l"/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3️⃣ Converted and standardized all numeric units for analysis</a:t>
            </a:r>
          </a:p>
          <a:p>
            <a:pPr algn="l"/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4️⃣ Created 15 visual KPIs using Matplotlib and </a:t>
            </a:r>
            <a:r>
              <a:rPr lang="en-US" sz="2000" b="0" dirty="0" err="1">
                <a:solidFill>
                  <a:srgbClr val="282828"/>
                </a:solidFill>
                <a:latin typeface="Calibri (Body)"/>
              </a:rPr>
              <a:t>Plotly</a:t>
            </a:r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 for interactivity</a:t>
            </a:r>
          </a:p>
          <a:p>
            <a:pPr algn="l"/>
            <a:r>
              <a:rPr lang="en-US" sz="2000" b="0" dirty="0">
                <a:solidFill>
                  <a:srgbClr val="282828"/>
                </a:solidFill>
                <a:latin typeface="Calibri (Body)"/>
              </a:rPr>
              <a:t>5️⃣ Summarized patterns in element behavior, abundance, and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(Body)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E6E6E6"/>
                </a:solidFill>
                <a:latin typeface="Calibri (Body)"/>
              </a:rPr>
              <a:t>✅ Successfully scraped, cleaned, and analyzed data for all known elements.
✅ Built 15 visual KPIs that show how elements differ in weight, heat, and abundance.
✅ Discovered clear periodic trends in electronegativity, density, and atomic structure.
✅ Final dataset saved as `cleaned_elements.xlsx`</a:t>
            </a:r>
            <a:r>
              <a:rPr lang="en-US" sz="2200" b="0" dirty="0">
                <a:solidFill>
                  <a:srgbClr val="E6E6E6"/>
                </a:solidFill>
                <a:latin typeface="Calibri (Body)"/>
              </a:rPr>
              <a:t>,</a:t>
            </a:r>
            <a:r>
              <a:rPr sz="2200" b="0" dirty="0">
                <a:solidFill>
                  <a:srgbClr val="E6E6E6"/>
                </a:solidFill>
                <a:latin typeface="Calibri (Body)"/>
              </a:rPr>
              <a:t> ready for further analysis or ML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2858</TotalTime>
  <Words>675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(Body)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Nomad</dc:creator>
  <cp:keywords/>
  <dc:description>generated using python-pptx</dc:description>
  <cp:lastModifiedBy>أيمن بري ID 442105433</cp:lastModifiedBy>
  <cp:revision>23</cp:revision>
  <dcterms:created xsi:type="dcterms:W3CDTF">2013-01-27T09:14:16Z</dcterms:created>
  <dcterms:modified xsi:type="dcterms:W3CDTF">2025-11-07T17:44:51Z</dcterms:modified>
  <cp:category/>
</cp:coreProperties>
</file>